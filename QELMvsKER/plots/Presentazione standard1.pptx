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56" r:id="rId3"/>
    <p:sldId id="260" r:id="rId4"/>
    <p:sldId id="257" r:id="rId5"/>
    <p:sldId id="27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3" r:id="rId14"/>
    <p:sldId id="275" r:id="rId15"/>
    <p:sldId id="272" r:id="rId16"/>
    <p:sldId id="274" r:id="rId17"/>
    <p:sldId id="276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66779D-CABB-C641-8F36-69DF92CEF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191ABBB-5845-074F-A731-E36E1FD87F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39406F-F9D8-4D40-AC63-AD61997A1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C329611-FF6D-AD46-B285-24F001E3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4200D0D-888F-8143-ADD0-A953A3AB5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7532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3162C4-2389-3046-BA46-342914ECA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AE0F83-F89F-4E46-87DC-365661932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376BB5-9CD9-DD4C-9C3E-371547AFC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8CF581E-3A8B-5A48-AEC7-B653E60FB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95DAD6F-20F9-324A-928E-84704EB25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70998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026F30-3382-5A40-9208-AEF0FA8D7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6502E1-79E4-554F-8853-F555B373C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021E02C-5D8C-2B47-8995-6C3E4BC1C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F4B754A-0047-9647-8E9C-5943D877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665FDA-C586-1E46-ADF2-34C96E971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2518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E8F878-AC76-5F48-81B0-106F28055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D53E7FD-A970-7444-B7C5-884F0E1953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8DA2428-FB2C-CC48-933C-4DBAE49C2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5DDA187-C69D-894C-97D7-DD858E993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39BB06-4292-0844-904D-2F045AAF5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4B16DF4-7E87-4E4D-A848-3982ED58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71766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1B1464-285C-3442-A016-562D51967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2EC29D6-CBA5-D74C-89D3-F63693F61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A18F800-5727-3E4E-AFB9-C419AB740A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F6F4597-BDA8-5746-8206-3057F4F76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7D5B698-B03A-0140-96E4-97162733AA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368A0D2-6701-D844-AF51-A2A2E4AEE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F885D83-A39B-FA43-B062-A3B515D4C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4281495D-EBCE-4448-8D14-B2AC2391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4798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0F53F9-0419-6641-8539-2A59EE24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FE4FFD7-0836-B449-ADE6-9F53A766E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AB949B8-7405-F148-9C93-645C45214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3236C52-1298-EA46-9ABD-49520E3DC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3462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C22EF39-0DA3-E748-A6B2-9A066DAD8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A550641D-A354-0241-8B84-00313FDD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A76394E-EB86-574D-A0A9-765D3B25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33189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2399A8-21F5-0A46-9AE0-C6FF5AAA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A5ED3C-92FF-1740-84B5-3C4156AE1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D5780FD-5C36-C840-A1A7-3B3571E52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F7B648-04C0-E948-9154-EB9BDA2B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21A8F4D-D784-2F43-8405-8C498C25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958E59C-AFF3-594C-BF81-0C59542E3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6186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1DE691-86BE-4C43-B24A-9F6562245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259B1B42-1502-BD41-9761-A8B42C33A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E795350E-16B4-7A46-B273-ABC7110705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A0E3B1E-5910-B241-AB81-100E3527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568055F-B789-394A-8327-A5617FFD4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7D29D16-BF1C-5B4E-9B75-06D9E2AB6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48008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709300-E40F-824C-AB97-67FA186F6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C35AD7B-57E5-924F-89A0-F3DA28482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6EFEC63-578A-6F4C-B515-5D49F285E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052922-0AC5-9749-9D22-93160726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19E8AB7-6D5D-5941-A3BA-390E68AFA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9812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1809148-6FDC-1944-8FAC-AC9882AE23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81C7A66-831B-E143-BA3E-C2B8BDD0F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AD178B-4555-6B43-9C69-276E6D22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3B93E08-8B3B-504C-BD2F-2A6BC900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CA4F37-DF5C-2B4F-AC18-FF10707C3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7263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30E60F4-DF21-AD48-821C-B62AB5A74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553BD25-4D5A-BD40-ADF1-C232E0BD64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CBA863-300D-394E-B30E-81992D35A7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88C96A-4874-7643-84DF-30A546100EEA}" type="datetimeFigureOut">
              <a:rPr lang="it-IT" smtClean="0"/>
              <a:t>12/05/26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1EA358-662B-834A-B7F3-99E166777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4B1B480-B6D6-4240-93C8-5B7FC1C566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43BE7-54BD-4B4E-915B-0D4E6148DA3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9259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4107DC-DD00-954A-BAAD-F3B2DE384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 err="1"/>
              <a:t>Kernel</a:t>
            </a:r>
            <a:r>
              <a:rPr lang="it-IT" dirty="0"/>
              <a:t> VS QELM</a:t>
            </a:r>
          </a:p>
        </p:txBody>
      </p:sp>
    </p:spTree>
    <p:extLst>
      <p:ext uri="{BB962C8B-B14F-4D97-AF65-F5344CB8AC3E}">
        <p14:creationId xmlns:p14="http://schemas.microsoft.com/office/powerpoint/2010/main" val="2500675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72B9B9-AE24-854A-A474-FDEC5B391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680" y="405575"/>
            <a:ext cx="5001768" cy="1371600"/>
          </a:xfrm>
        </p:spPr>
        <p:txBody>
          <a:bodyPr anchor="ctr">
            <a:normAutofit/>
          </a:bodyPr>
          <a:lstStyle/>
          <a:p>
            <a:pPr algn="l"/>
            <a:r>
              <a:rPr lang="it-IT" sz="3600"/>
              <a:t>Quantum Kernel VS QELM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D90E6B28-B1F6-D642-9945-E66FBA3901F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382512" y="498698"/>
                <a:ext cx="4940808" cy="1185353"/>
              </a:xfrm>
            </p:spPr>
            <p:txBody>
              <a:bodyPr anchor="ctr">
                <a:normAutofit/>
              </a:bodyPr>
              <a:lstStyle/>
              <a:p>
                <a:pPr algn="l"/>
                <a:r>
                  <a:rPr lang="it-IT"/>
                  <a:t>input qubit, reconstruct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b="0" i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it-IT"/>
                  <a:t>realizations = 100,   rcond = default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sup>
                        </m:sSup>
                      </m:e>
                    </m:d>
                    <m:r>
                      <a:rPr lang="it-IT" b="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it-IT"/>
                  <a:t> </a:t>
                </a:r>
              </a:p>
            </p:txBody>
          </p:sp>
        </mc:Choice>
        <mc:Fallback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D90E6B28-B1F6-D642-9945-E66FBA3901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382512" y="498698"/>
                <a:ext cx="4940808" cy="1185353"/>
              </a:xfrm>
              <a:blipFill>
                <a:blip r:embed="rId2"/>
                <a:stretch>
                  <a:fillRect l="-2051" t="-2128" b="-42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 descr="Immagine che contiene testo, linea, schermata, diagramma&#10;&#10;Descrizione generata automaticamente">
            <a:extLst>
              <a:ext uri="{FF2B5EF4-FFF2-40B4-BE49-F238E27FC236}">
                <a16:creationId xmlns:a16="http://schemas.microsoft.com/office/drawing/2014/main" id="{DB1B8B58-B2F0-4C4A-B3F3-C0313E561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58" y="2388229"/>
            <a:ext cx="5431536" cy="3611971"/>
          </a:xfrm>
          <a:prstGeom prst="rect">
            <a:avLst/>
          </a:prstGeom>
        </p:spPr>
      </p:pic>
      <p:pic>
        <p:nvPicPr>
          <p:cNvPr id="5" name="Immagine 4" descr="Immagine che contiene testo, diagramma, Diagramma, linea&#10;&#10;Descrizione generata automaticamente">
            <a:extLst>
              <a:ext uri="{FF2B5EF4-FFF2-40B4-BE49-F238E27FC236}">
                <a16:creationId xmlns:a16="http://schemas.microsoft.com/office/drawing/2014/main" id="{18CDC86E-E214-5943-82A9-A2D9A40E7C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1408" y="2383215"/>
            <a:ext cx="5431536" cy="361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52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A72B9B9-AE24-854A-A474-FDEC5B391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8680" y="405575"/>
            <a:ext cx="5001768" cy="1371600"/>
          </a:xfrm>
        </p:spPr>
        <p:txBody>
          <a:bodyPr anchor="ctr">
            <a:normAutofit/>
          </a:bodyPr>
          <a:lstStyle/>
          <a:p>
            <a:pPr algn="l"/>
            <a:r>
              <a:rPr lang="it-IT" sz="3600"/>
              <a:t>Quantum Kernel VS QELM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D90E6B28-B1F6-D642-9945-E66FBA3901F9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6382512" y="498698"/>
                <a:ext cx="4940808" cy="1185353"/>
              </a:xfrm>
            </p:spPr>
            <p:txBody>
              <a:bodyPr anchor="ctr">
                <a:normAutofit/>
              </a:bodyPr>
              <a:lstStyle/>
              <a:p>
                <a:pPr algn="l"/>
                <a:r>
                  <a:rPr lang="it-IT"/>
                  <a:t>input qubit, reconstruct </a:t>
                </a:r>
                <a14:m>
                  <m:oMath xmlns:m="http://schemas.openxmlformats.org/officeDocument/2006/math">
                    <m:r>
                      <a:rPr lang="it-IT" b="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it-IT" b="0" i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it-IT"/>
                  <a:t>realizations = 100,   rcond = default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it-IT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it-IT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it-IT" b="0" i="1">
                                <a:latin typeface="Cambria Math" panose="02040503050406030204" pitchFamily="18" charset="0"/>
                              </a:rPr>
                              <m:t>−15</m:t>
                            </m:r>
                          </m:sup>
                        </m:sSup>
                      </m:e>
                    </m:d>
                    <m:r>
                      <a:rPr lang="it-IT" b="0" i="1">
                        <a:latin typeface="Cambria Math" panose="02040503050406030204" pitchFamily="18" charset="0"/>
                      </a:rPr>
                      <m:t>,  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b="0" i="1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it-IT"/>
                  <a:t> </a:t>
                </a:r>
              </a:p>
            </p:txBody>
          </p:sp>
        </mc:Choice>
        <mc:Fallback>
          <p:sp>
            <p:nvSpPr>
              <p:cNvPr id="3" name="Sottotitolo 2">
                <a:extLst>
                  <a:ext uri="{FF2B5EF4-FFF2-40B4-BE49-F238E27FC236}">
                    <a16:creationId xmlns:a16="http://schemas.microsoft.com/office/drawing/2014/main" id="{D90E6B28-B1F6-D642-9945-E66FBA3901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6382512" y="498698"/>
                <a:ext cx="4940808" cy="1185353"/>
              </a:xfrm>
              <a:blipFill>
                <a:blip r:embed="rId2"/>
                <a:stretch>
                  <a:fillRect l="-2051" t="-2128" b="-42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B1B8B58-B2F0-4C4A-B3F3-C0313E561B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9058" y="2392163"/>
            <a:ext cx="5431536" cy="360410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8CDC86E-E214-5943-82A9-A2D9A40E7C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11408" y="2387149"/>
            <a:ext cx="5431536" cy="360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7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egnaposto contenuto 4" descr="Immagine che contiene testo, schermata, Diagramma, linea&#10;&#10;Descrizione generata automaticamente">
            <a:extLst>
              <a:ext uri="{FF2B5EF4-FFF2-40B4-BE49-F238E27FC236}">
                <a16:creationId xmlns:a16="http://schemas.microsoft.com/office/drawing/2014/main" id="{181ADF27-21F2-0B47-8179-04A883583D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2200" y="643466"/>
            <a:ext cx="7467599" cy="557106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FD67BABA-47F0-A949-BAB7-48E89EE1A3F0}"/>
              </a:ext>
            </a:extLst>
          </p:cNvPr>
          <p:cNvSpPr txBox="1"/>
          <p:nvPr/>
        </p:nvSpPr>
        <p:spPr>
          <a:xfrm>
            <a:off x="1114425" y="2628900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Median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11330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3CA16D-C643-EE4F-BA15-59888A9F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2901"/>
            <a:ext cx="10515600" cy="1325563"/>
          </a:xfrm>
        </p:spPr>
        <p:txBody>
          <a:bodyPr/>
          <a:lstStyle/>
          <a:p>
            <a:pPr algn="ctr"/>
            <a:r>
              <a:rPr lang="it-IT" dirty="0" err="1"/>
              <a:t>Kernel</a:t>
            </a:r>
            <a:r>
              <a:rPr lang="it-IT" dirty="0"/>
              <a:t> </a:t>
            </a:r>
            <a:r>
              <a:rPr lang="it-IT" dirty="0" err="1"/>
              <a:t>numerical</a:t>
            </a:r>
            <a:r>
              <a:rPr lang="it-IT" dirty="0"/>
              <a:t> </a:t>
            </a:r>
            <a:r>
              <a:rPr lang="it-IT" dirty="0" err="1"/>
              <a:t>instability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0846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147C97-2D97-4744-BCD9-DC57A9B3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6551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KernelSVD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N_train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=100 </a:t>
            </a:r>
          </a:p>
        </p:txBody>
      </p:sp>
      <p:pic>
        <p:nvPicPr>
          <p:cNvPr id="5" name="Immagine 4" descr="Immagine che contiene testo, linea, Diagramma&#10;&#10;Descrizione generata automaticamente">
            <a:extLst>
              <a:ext uri="{FF2B5EF4-FFF2-40B4-BE49-F238E27FC236}">
                <a16:creationId xmlns:a16="http://schemas.microsoft.com/office/drawing/2014/main" id="{4A633F89-1EC9-A944-9308-0578D84DE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335" y="1506869"/>
            <a:ext cx="11674281" cy="4684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916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147C97-2D97-4744-BCD9-DC57A9B3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6551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KernelSVD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N_train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=100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A633F89-1EC9-A944-9308-0578D84DE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7335" y="1540266"/>
            <a:ext cx="11674281" cy="461743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AB5C3D-7E44-6F47-9A5D-56AFF73842ED}"/>
              </a:ext>
            </a:extLst>
          </p:cNvPr>
          <p:cNvSpPr txBox="1"/>
          <p:nvPr/>
        </p:nvSpPr>
        <p:spPr>
          <a:xfrm>
            <a:off x="8665535" y="1020726"/>
            <a:ext cx="302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Pinv</a:t>
            </a:r>
            <a:r>
              <a:rPr lang="it-IT" dirty="0">
                <a:solidFill>
                  <a:srgbClr val="FF0000"/>
                </a:solidFill>
              </a:rPr>
              <a:t> -&gt; </a:t>
            </a:r>
            <a:r>
              <a:rPr lang="it-IT" dirty="0" err="1">
                <a:solidFill>
                  <a:srgbClr val="FF0000"/>
                </a:solidFill>
              </a:rPr>
              <a:t>rcond</a:t>
            </a:r>
            <a:r>
              <a:rPr lang="it-IT" dirty="0">
                <a:solidFill>
                  <a:srgbClr val="FF0000"/>
                </a:solidFill>
              </a:rPr>
              <a:t> = 1e-15 (default)</a:t>
            </a:r>
          </a:p>
        </p:txBody>
      </p:sp>
    </p:spTree>
    <p:extLst>
      <p:ext uri="{BB962C8B-B14F-4D97-AF65-F5344CB8AC3E}">
        <p14:creationId xmlns:p14="http://schemas.microsoft.com/office/powerpoint/2010/main" val="1746324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147C97-2D97-4744-BCD9-DC57A9B3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6551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KernelSVD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N_train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=1000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A633F89-1EC9-A944-9308-0578D84DE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7336" y="1540266"/>
            <a:ext cx="11674279" cy="461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932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1147C97-2D97-4744-BCD9-DC57A9B32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6551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KernelSVD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N_train</a:t>
            </a: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=1000 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A633F89-1EC9-A944-9308-0578D84DEC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7336" y="1540266"/>
            <a:ext cx="11674279" cy="461743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2AB5C3D-7E44-6F47-9A5D-56AFF73842ED}"/>
              </a:ext>
            </a:extLst>
          </p:cNvPr>
          <p:cNvSpPr txBox="1"/>
          <p:nvPr/>
        </p:nvSpPr>
        <p:spPr>
          <a:xfrm>
            <a:off x="8665535" y="1020726"/>
            <a:ext cx="3023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>
                <a:solidFill>
                  <a:srgbClr val="FF0000"/>
                </a:solidFill>
              </a:rPr>
              <a:t>Pinv</a:t>
            </a:r>
            <a:r>
              <a:rPr lang="it-IT" dirty="0">
                <a:solidFill>
                  <a:srgbClr val="FF0000"/>
                </a:solidFill>
              </a:rPr>
              <a:t> -&gt; </a:t>
            </a:r>
            <a:r>
              <a:rPr lang="it-IT" dirty="0" err="1">
                <a:solidFill>
                  <a:srgbClr val="FF0000"/>
                </a:solidFill>
              </a:rPr>
              <a:t>rcond</a:t>
            </a:r>
            <a:r>
              <a:rPr lang="it-IT" dirty="0">
                <a:solidFill>
                  <a:srgbClr val="FF0000"/>
                </a:solidFill>
              </a:rPr>
              <a:t> = 1e-15 (default)</a:t>
            </a:r>
          </a:p>
        </p:txBody>
      </p:sp>
    </p:spTree>
    <p:extLst>
      <p:ext uri="{BB962C8B-B14F-4D97-AF65-F5344CB8AC3E}">
        <p14:creationId xmlns:p14="http://schemas.microsoft.com/office/powerpoint/2010/main" val="3674993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</p:spPr>
            <p:txBody>
              <a:bodyPr>
                <a:normAutofit/>
              </a:bodyPr>
              <a:lstStyle/>
              <a:p>
                <a:r>
                  <a:rPr lang="it-IT" sz="2800" dirty="0" err="1"/>
                  <a:t>Kernel</a:t>
                </a:r>
                <a:r>
                  <a:rPr lang="it-IT" sz="2800" dirty="0"/>
                  <a:t> MSE,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sz="2800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it-IT" sz="2800" b="0" i="0" smtClean="0">
                        <a:latin typeface="Cambria Math" panose="02040503050406030204" pitchFamily="18" charset="0"/>
                      </a:rPr>
                      <m:t>rcond</m:t>
                    </m:r>
                  </m:oMath>
                </a14:m>
                <a:endParaRPr lang="it-IT" sz="2800" dirty="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  <a:blipFill>
                <a:blip r:embed="rId2"/>
                <a:stretch>
                  <a:fillRect l="-1206" t="-1852" b="-9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 descr="Immagine che contiene testo, schermata, diagramma, numero&#10;&#10;Descrizione generata automaticamente">
            <a:extLst>
              <a:ext uri="{FF2B5EF4-FFF2-40B4-BE49-F238E27FC236}">
                <a16:creationId xmlns:a16="http://schemas.microsoft.com/office/drawing/2014/main" id="{92E37A44-4C1D-1844-9712-5FD9C6B9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174" y="828675"/>
            <a:ext cx="7715652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94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</p:spPr>
            <p:txBody>
              <a:bodyPr>
                <a:normAutofit/>
              </a:bodyPr>
              <a:lstStyle/>
              <a:p>
                <a:r>
                  <a:rPr lang="it-IT" sz="2800" dirty="0" err="1"/>
                  <a:t>Kernel</a:t>
                </a:r>
                <a:r>
                  <a:rPr lang="it-IT" sz="2800" dirty="0"/>
                  <a:t> MSE,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sz="2800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it-IT" sz="2800" b="0" i="0" smtClean="0">
                        <a:latin typeface="Cambria Math" panose="02040503050406030204" pitchFamily="18" charset="0"/>
                      </a:rPr>
                      <m:t>rcond</m:t>
                    </m:r>
                  </m:oMath>
                </a14:m>
                <a:endParaRPr lang="it-IT" sz="2800" dirty="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  <a:blipFill>
                <a:blip r:embed="rId2"/>
                <a:stretch>
                  <a:fillRect l="-1206" t="-1852" b="-9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92E37A44-4C1D-1844-9712-5FD9C6B9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38174" y="828675"/>
            <a:ext cx="7715651" cy="602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35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</p:spPr>
            <p:txBody>
              <a:bodyPr>
                <a:normAutofit/>
              </a:bodyPr>
              <a:lstStyle/>
              <a:p>
                <a:r>
                  <a:rPr lang="it-IT" sz="2800" dirty="0" err="1"/>
                  <a:t>Kernel</a:t>
                </a:r>
                <a:r>
                  <a:rPr lang="it-IT" sz="2800" dirty="0"/>
                  <a:t> MSE,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sz="2800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it-IT" sz="2800" b="0" i="0" smtClean="0">
                        <a:latin typeface="Cambria Math" panose="02040503050406030204" pitchFamily="18" charset="0"/>
                      </a:rPr>
                      <m:t>rcond</m:t>
                    </m:r>
                  </m:oMath>
                </a14:m>
                <a:endParaRPr lang="it-IT" sz="2800" dirty="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  <a:blipFill>
                <a:blip r:embed="rId2"/>
                <a:stretch>
                  <a:fillRect l="-1206" t="-1852" b="-9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92E37A44-4C1D-1844-9712-5FD9C6B9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38174" y="828675"/>
            <a:ext cx="7715651" cy="602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107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</p:spPr>
            <p:txBody>
              <a:bodyPr>
                <a:normAutofit/>
              </a:bodyPr>
              <a:lstStyle/>
              <a:p>
                <a:r>
                  <a:rPr lang="it-IT" sz="2800" dirty="0" err="1"/>
                  <a:t>Noisy</a:t>
                </a:r>
                <a:r>
                  <a:rPr lang="it-IT" sz="2800" dirty="0"/>
                  <a:t> </a:t>
                </a:r>
                <a:r>
                  <a:rPr lang="it-IT" sz="2800" dirty="0" err="1"/>
                  <a:t>Kernel</a:t>
                </a:r>
                <a:r>
                  <a:rPr lang="it-IT" sz="2800" dirty="0"/>
                  <a:t> MSE,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sz="2800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it-IT" sz="2800" b="0" i="0" smtClean="0">
                        <a:latin typeface="Cambria Math" panose="02040503050406030204" pitchFamily="18" charset="0"/>
                      </a:rPr>
                      <m:t>rcond</m:t>
                    </m:r>
                  </m:oMath>
                </a14:m>
                <a:endParaRPr lang="it-IT" sz="2800" dirty="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  <a:blipFill>
                <a:blip r:embed="rId2"/>
                <a:stretch>
                  <a:fillRect l="-1206" t="-1852" b="-9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92E37A44-4C1D-1844-9712-5FD9C6B9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625" y="945633"/>
            <a:ext cx="11578749" cy="532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48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</p:spPr>
            <p:txBody>
              <a:bodyPr>
                <a:normAutofit/>
              </a:bodyPr>
              <a:lstStyle/>
              <a:p>
                <a:r>
                  <a:rPr lang="it-IT" sz="2800" dirty="0" err="1"/>
                  <a:t>Noisy</a:t>
                </a:r>
                <a:r>
                  <a:rPr lang="it-IT" sz="2800" dirty="0"/>
                  <a:t> </a:t>
                </a:r>
                <a:r>
                  <a:rPr lang="it-IT" sz="2800" dirty="0" err="1"/>
                  <a:t>Kernel</a:t>
                </a:r>
                <a:r>
                  <a:rPr lang="it-IT" sz="2800" dirty="0"/>
                  <a:t> MSE, </a:t>
                </a:r>
                <a14:m>
                  <m:oMath xmlns:m="http://schemas.openxmlformats.org/officeDocument/2006/math">
                    <m:r>
                      <a:rPr lang="it-IT" sz="2800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it-IT" sz="2800" b="0" i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m:rPr>
                        <m:sty m:val="p"/>
                      </m:rPr>
                      <a:rPr lang="it-IT" sz="2800" b="0" i="0" smtClean="0">
                        <a:latin typeface="Cambria Math" panose="02040503050406030204" pitchFamily="18" charset="0"/>
                      </a:rPr>
                      <m:t>rcond</m:t>
                    </m:r>
                  </m:oMath>
                </a14:m>
                <a:endParaRPr lang="it-IT" sz="2800" dirty="0"/>
              </a:p>
            </p:txBody>
          </p:sp>
        </mc:Choice>
        <mc:Fallback>
          <p:sp>
            <p:nvSpPr>
              <p:cNvPr id="2" name="Titolo 1">
                <a:extLst>
                  <a:ext uri="{FF2B5EF4-FFF2-40B4-BE49-F238E27FC236}">
                    <a16:creationId xmlns:a16="http://schemas.microsoft.com/office/drawing/2014/main" id="{2B846FE3-4E07-9348-80C0-05AC52A25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51809"/>
                <a:ext cx="10515600" cy="676866"/>
              </a:xfrm>
              <a:blipFill>
                <a:blip r:embed="rId2"/>
                <a:stretch>
                  <a:fillRect l="-1206" t="-1852" b="-925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magine 4">
            <a:extLst>
              <a:ext uri="{FF2B5EF4-FFF2-40B4-BE49-F238E27FC236}">
                <a16:creationId xmlns:a16="http://schemas.microsoft.com/office/drawing/2014/main" id="{92E37A44-4C1D-1844-9712-5FD9C6B9F6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9509" y="945633"/>
            <a:ext cx="11532981" cy="532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47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F78136-63C6-2F4E-8E73-95166C55F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74" y="2766218"/>
            <a:ext cx="10515600" cy="1325563"/>
          </a:xfrm>
        </p:spPr>
        <p:txBody>
          <a:bodyPr/>
          <a:lstStyle/>
          <a:p>
            <a:pPr algn="ctr"/>
            <a:r>
              <a:rPr lang="it-IT" dirty="0" err="1"/>
              <a:t>Scaling</a:t>
            </a:r>
            <a:r>
              <a:rPr lang="it-IT" dirty="0"/>
              <a:t> (</a:t>
            </a:r>
            <a:r>
              <a:rPr lang="it-IT" dirty="0" err="1"/>
              <a:t>again</a:t>
            </a:r>
            <a:r>
              <a:rPr lang="it-IT" dirty="0"/>
              <a:t> QELM vs </a:t>
            </a:r>
            <a:r>
              <a:rPr lang="it-IT" dirty="0" err="1"/>
              <a:t>Kernel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3044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, schermata, linea, diagramma&#10;&#10;Descrizione generata automaticamente">
            <a:extLst>
              <a:ext uri="{FF2B5EF4-FFF2-40B4-BE49-F238E27FC236}">
                <a16:creationId xmlns:a16="http://schemas.microsoft.com/office/drawing/2014/main" id="{450A32F5-96E7-2146-AE92-12AFFAA89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279400"/>
            <a:ext cx="9956800" cy="62992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2D73F9DA-A607-3B46-9404-71FEEBD545F9}"/>
              </a:ext>
            </a:extLst>
          </p:cNvPr>
          <p:cNvSpPr txBox="1"/>
          <p:nvPr/>
        </p:nvSpPr>
        <p:spPr>
          <a:xfrm>
            <a:off x="2106428" y="900445"/>
            <a:ext cx="17139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dirty="0">
                <a:solidFill>
                  <a:srgbClr val="FF0000"/>
                </a:solidFill>
              </a:rPr>
              <a:t>OLD ONE</a:t>
            </a:r>
          </a:p>
        </p:txBody>
      </p:sp>
    </p:spTree>
    <p:extLst>
      <p:ext uri="{BB962C8B-B14F-4D97-AF65-F5344CB8AC3E}">
        <p14:creationId xmlns:p14="http://schemas.microsoft.com/office/powerpoint/2010/main" val="11934847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05172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138</Words>
  <Application>Microsoft Macintosh PowerPoint</Application>
  <PresentationFormat>Widescreen</PresentationFormat>
  <Paragraphs>20</Paragraphs>
  <Slides>17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Tema di Office</vt:lpstr>
      <vt:lpstr>Kernel VS QELM</vt:lpstr>
      <vt:lpstr>Quantum Kernel VS QELM</vt:lpstr>
      <vt:lpstr>Quantum Kernel VS QELM</vt:lpstr>
      <vt:lpstr>Presentazione standard di PowerPoint</vt:lpstr>
      <vt:lpstr>Kernel numerical instability</vt:lpstr>
      <vt:lpstr>KernelSVD, N_train=100 </vt:lpstr>
      <vt:lpstr>KernelSVD, N_train=100 </vt:lpstr>
      <vt:lpstr>KernelSVD, N_train=1000 </vt:lpstr>
      <vt:lpstr>KernelSVD, N_train=1000 </vt:lpstr>
      <vt:lpstr>Kernel MSE, λ -rcond</vt:lpstr>
      <vt:lpstr>Kernel MSE, λ -rcond</vt:lpstr>
      <vt:lpstr>Kernel MSE, λ -rcond</vt:lpstr>
      <vt:lpstr>Noisy Kernel MSE, λ -rcond</vt:lpstr>
      <vt:lpstr>Noisy Kernel MSE, λ -rcond</vt:lpstr>
      <vt:lpstr>Scaling (again QELM vs Kernel)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Kernel VS QELM</dc:title>
  <dc:creator>Gianmarco Ferrara - gianmarco.ferrara2@studio.unibo.it</dc:creator>
  <cp:lastModifiedBy>Gianmarco Ferrara - gianmarco.ferrara2@studio.unibo.it</cp:lastModifiedBy>
  <cp:revision>1</cp:revision>
  <dcterms:created xsi:type="dcterms:W3CDTF">2026-05-12T12:05:05Z</dcterms:created>
  <dcterms:modified xsi:type="dcterms:W3CDTF">2026-05-12T13:33:35Z</dcterms:modified>
</cp:coreProperties>
</file>